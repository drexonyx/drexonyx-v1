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>
                <a:solidFill>
                  <a:srgbClr val="575A6B"/>
                </a:solidFill>
              </a:defRPr>
            </a:pPr>
            <a:r>
              <a:t>MAU Growth — Jan to Jun (Illustrative)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MAU</c:v>
                </c:pt>
              </c:strCache>
            </c:strRef>
          </c:tx>
          <c:spPr>
            <a:solidFill>
              <a:srgbClr val="3EC8B0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2100</c:v>
                </c:pt>
                <c:pt idx="1">
                  <c:v>3800</c:v>
                </c:pt>
                <c:pt idx="2">
                  <c:v>5900</c:v>
                </c:pt>
                <c:pt idx="3">
                  <c:v>7800</c:v>
                </c:pt>
                <c:pt idx="4">
                  <c:v>10400</c:v>
                </c:pt>
                <c:pt idx="5">
                  <c:v>12000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>
                <a:solidFill>
                  <a:srgbClr val="575A6B"/>
                </a:solidFill>
              </a:defRPr>
            </a:pPr>
            <a:r>
              <a:t>ARR Projection Y1–Y4 (Illustrative — not a financial forecast)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ln w="31750">
              <a:solidFill>
                <a:srgbClr val="3EC8B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8.1</c:v>
                </c:pt>
                <c:pt idx="2">
                  <c:v>21.0</c:v>
                </c:pt>
                <c:pt idx="3">
                  <c:v>52.0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0" y="822960"/>
            <a:ext cx="822960" cy="822960"/>
          </a:xfrm>
          <a:prstGeom prst="round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8091A"/>
                </a:solidFill>
                <a:latin typeface="Liberation Sans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EC8B0"/>
                </a:solidFill>
                <a:latin typeface="Liberation Serif"/>
              </a:rPr>
              <a:t>NEXORA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5468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0B4"/>
                </a:solidFill>
                <a:latin typeface="Liberation Sans"/>
              </a:rPr>
              <a:t>Work Less. Think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75A6B"/>
                </a:solidFill>
                <a:latin typeface="Liberation Sans"/>
              </a:rPr>
              <a:t>Series A Investor Presentation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572000"/>
            <a:ext cx="3227832" cy="330200"/>
          </a:xfrm>
          <a:prstGeom prst="roundRect">
            <a:avLst/>
          </a:prstGeom>
          <a:solidFill>
            <a:srgbClr val="3A2D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Liberation Sans"/>
              </a:rPr>
              <a:t>⚠  ILLUSTRATIVE / CONCEPT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Portfolio sample — not a real company or investment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01 —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Knowledge work is broken.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0B4"/>
                </a:solidFill>
                <a:latin typeface="Liberation Sans"/>
              </a:rPr>
              <a:t>Professionals spend most of their day on low-value repetitive tasks — not actual thinking.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74720" cy="146304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2321560"/>
            <a:ext cx="31699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EC8B0"/>
                </a:solidFill>
                <a:latin typeface="Liberation Sans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2829560"/>
            <a:ext cx="316992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of work hours lost to repetitive, automatable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194560"/>
            <a:ext cx="3474720" cy="146304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21560"/>
            <a:ext cx="31699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7FFF"/>
                </a:solidFill>
                <a:latin typeface="Liberation Sans"/>
              </a:rPr>
              <a:t>$1.8T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29560"/>
            <a:ext cx="316992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annual productivity loss in the US 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94560"/>
            <a:ext cx="3474720" cy="146304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6552" y="2321560"/>
            <a:ext cx="31699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Liberation Sans"/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6552" y="2829560"/>
            <a:ext cx="3169920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of knowledge workers report burnout from task overload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908792" cy="1280160"/>
          </a:xfrm>
          <a:prstGeom prst="roundRect">
            <a:avLst/>
          </a:prstGeom>
          <a:solidFill>
            <a:srgbClr val="1A0A0A"/>
          </a:solidFill>
          <a:ln w="9525">
            <a:solidFill>
              <a:srgbClr val="5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0B4"/>
                </a:solidFill>
                <a:latin typeface="Liberation Sans"/>
              </a:rPr>
              <a:t>The root cause: Existing tools automate isolated actions but fail to understand context — so every workflow still requires a human to manually connect the dots, copy-paste between apps, and re-explain the same thing dozens of times a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02 —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An AI layer that thinks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NEXORA connects to your existing tools and handles the connective tissue of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25603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880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C8B0"/>
                </a:solidFill>
                <a:latin typeface="Liberation Sans"/>
              </a:rPr>
              <a:t>⚙ 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880" y="2585720"/>
            <a:ext cx="3119120" cy="189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AutoFlow maps your recurring workflows and executes them end-to-end — no code, no scripts, no manual triggers.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103120"/>
            <a:ext cx="3474720" cy="2560320"/>
          </a:xfrm>
          <a:prstGeom prst="roundRect">
            <a:avLst/>
          </a:prstGeom>
          <a:solidFill>
            <a:srgbClr val="100E2A"/>
          </a:solidFill>
          <a:ln w="9525">
            <a:solidFill>
              <a:srgbClr val="4A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488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7FFF"/>
                </a:solidFill>
                <a:latin typeface="Liberation Sans"/>
              </a:rPr>
              <a:t>🧠  Augment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488" y="2585720"/>
            <a:ext cx="3119120" cy="189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NexAssist is your context-aware AI copilot. It knows your projects, your team, and your goals — answering and acting, not just suggesting.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74720" cy="25603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1952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Liberation Sans"/>
              </a:rPr>
              <a:t>📊 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52" y="2585720"/>
            <a:ext cx="3119120" cy="189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WorkSense surfaces real-time productivity signals — where time actually goes, what's blocking output, what should be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7FFF"/>
                </a:solidFill>
                <a:latin typeface="Liberation Sans"/>
              </a:rPr>
              <a:t>Core differentiator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03 — 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A $47B total addressable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Enterprise AI productivity software growing at 28% CAGR through 2030.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2743200" cy="2743200"/>
          </a:xfrm>
          <a:prstGeom prst="ellipse">
            <a:avLst/>
          </a:prstGeom>
          <a:noFill/>
          <a:ln w="19050">
            <a:solidFill>
              <a:srgbClr val="3E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7312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EC8B0"/>
                </a:solidFill>
                <a:latin typeface="Liberation Sans"/>
              </a:rPr>
              <a:t>TAM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514600"/>
            <a:ext cx="1920240" cy="1920240"/>
          </a:xfrm>
          <a:prstGeom prst="ellipse">
            <a:avLst/>
          </a:prstGeom>
          <a:noFill/>
          <a:ln w="19050">
            <a:solidFill>
              <a:srgbClr val="8B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73120"/>
            <a:ext cx="19202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7FFF"/>
                </a:solidFill>
                <a:latin typeface="Liberation Sans"/>
              </a:rPr>
              <a:t>SAM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2926080"/>
            <a:ext cx="1097280" cy="1097280"/>
          </a:xfrm>
          <a:prstGeom prst="ellipse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373120"/>
            <a:ext cx="109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Liberation Sans"/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40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EF8"/>
                </a:solidFill>
                <a:latin typeface="Liberation Sans"/>
              </a:rPr>
              <a:t>TAM — Total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2402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3EC8B0"/>
                </a:solidFill>
                <a:latin typeface="Liberation Sans"/>
              </a:rPr>
              <a:t>$47B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19680"/>
            <a:ext cx="6858000" cy="76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2519680"/>
            <a:ext cx="6858000" cy="762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474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EF8"/>
                </a:solidFill>
                <a:latin typeface="Liberation Sans"/>
              </a:rPr>
              <a:t>SAM — Serviceable Addressable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4747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8B7FFF"/>
                </a:solidFill>
                <a:latin typeface="Liberation Sans"/>
              </a:rPr>
              <a:t>$12B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754120"/>
            <a:ext cx="6858000" cy="76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3754120"/>
            <a:ext cx="3771900" cy="76200"/>
          </a:xfrm>
          <a:prstGeom prst="rect">
            <a:avLst/>
          </a:prstGeom>
          <a:solidFill>
            <a:srgbClr val="8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709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CEEF8"/>
                </a:solidFill>
                <a:latin typeface="Liberation Sans"/>
              </a:rPr>
              <a:t>SOM — Serviceable Obtainable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709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Liberation Sans"/>
              </a:rPr>
              <a:t>$620M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4988560"/>
            <a:ext cx="6858000" cy="76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4988560"/>
            <a:ext cx="1234439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04 —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Three modules. One unified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Each module is usable standalone. Together they create a compounding intelligence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017520"/>
          </a:xfrm>
          <a:prstGeom prst="roundRect">
            <a:avLst/>
          </a:prstGeom>
          <a:solidFill>
            <a:srgbClr val="081818"/>
          </a:solidFill>
          <a:ln w="9525">
            <a:solidFill>
              <a:srgbClr val="206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880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C8B0"/>
                </a:solidFill>
                <a:latin typeface="Liberation Sans"/>
              </a:rPr>
              <a:t>⚙  AutoFlow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880" y="2585720"/>
            <a:ext cx="3119120" cy="235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Visual workflow builder. Connect apps with natural language. Handles triggers, conditions, multi-step chains.
Integrations: Slack, Notion, Gmail, Sheets, Linear, Jira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103120"/>
            <a:ext cx="3474720" cy="3017520"/>
          </a:xfrm>
          <a:prstGeom prst="roundRect">
            <a:avLst/>
          </a:prstGeom>
          <a:solidFill>
            <a:srgbClr val="100E2A"/>
          </a:solidFill>
          <a:ln w="9525">
            <a:solidFill>
              <a:srgbClr val="4A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9488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7FFF"/>
                </a:solidFill>
                <a:latin typeface="Liberation Sans"/>
              </a:rPr>
              <a:t>🧠  NexAssist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488" y="2585720"/>
            <a:ext cx="3119120" cy="235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Context-aware AI copilot with persistent memory across all your tools. Drafts, summarizes, answers, and takes action in your voice.
Private — trained on workspace data, no training opt-in.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103120"/>
            <a:ext cx="3474720" cy="30175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1952" y="2255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Liberation Sans"/>
              </a:rPr>
              <a:t>📊  WorkSense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952" y="2585720"/>
            <a:ext cx="3119120" cy="235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Productivity intelligence dashboard. Shows real time-use, identifies workflow bottlenecks, recommends optimizations weekly.
Privacy-first: aggregated signals only, no screen recording.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05 —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SaaS — seat-based with usage tiers.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PLG entry motion; land-and-expand into team and enterprise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84048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880" y="22555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EEF8"/>
                </a:solidFill>
                <a:latin typeface="Liberation Sans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880" y="2534920"/>
            <a:ext cx="311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CEEF8"/>
                </a:solidFill>
                <a:latin typeface="Liberation Sans"/>
              </a:rPr>
              <a:t>$29/mo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880" y="3017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1 user · All modules · 500 AutoFlow runs/mo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880" y="3373120"/>
            <a:ext cx="311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✓  NexAssist unlimited
✓  WorkSense basic
✓  10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2103120"/>
            <a:ext cx="3474720" cy="3840480"/>
          </a:xfrm>
          <a:prstGeom prst="roundRect">
            <a:avLst/>
          </a:prstGeom>
          <a:solidFill>
            <a:srgbClr val="081818"/>
          </a:solidFill>
          <a:ln w="9525">
            <a:solidFill>
              <a:srgbClr val="206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8048" y="22555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TEAM  — 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048" y="2534920"/>
            <a:ext cx="311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EC8B0"/>
                </a:solidFill>
                <a:latin typeface="Liberation Sans"/>
              </a:rPr>
              <a:t>$199/mo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048" y="3017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Up to 10 users · Unlimited runs · Team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8048" y="3373120"/>
            <a:ext cx="311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✓  Everything in Individual
✓  Shared workflow library
✓  WorkSense team analytics
✓  Priority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2103120"/>
            <a:ext cx="3474720" cy="3840480"/>
          </a:xfrm>
          <a:prstGeom prst="roundRect">
            <a:avLst/>
          </a:prstGeom>
          <a:solidFill>
            <a:srgbClr val="100E2A"/>
          </a:solidFill>
          <a:ln w="9525">
            <a:solidFill>
              <a:srgbClr val="4A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8216" y="22555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7FFF"/>
                </a:solidFill>
                <a:latin typeface="Liberation Sans"/>
              </a:rPr>
              <a:t>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8216" y="2534920"/>
            <a:ext cx="311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B7FFF"/>
                </a:solidFill>
                <a:latin typeface="Liberation Sans"/>
              </a:rPr>
              <a:t>Custom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8216" y="3017520"/>
            <a:ext cx="311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Unlimited users · SSO · SLA · Dedicated CSM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8216" y="3373120"/>
            <a:ext cx="311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✓  Everything in Team
✓  On-prem deployment option
✓  Custom AI fine-tuning
✓  Enterprise SLA 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06 —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0 → 12K MAU in 6 months, organic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No paid acquisition. Growth driven entirely by product-led word-of-mouth.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EC8B0"/>
                </a:solidFill>
                <a:latin typeface="Liberation Sans"/>
              </a:rPr>
              <a:t>12K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Monthly Active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996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Liberation Sans"/>
              </a:rPr>
              <a:t>94%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996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Day-30 Retention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7FFF"/>
                </a:solidFill>
                <a:latin typeface="Liberation Sans"/>
              </a:rPr>
              <a:t>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44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Net Promoter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492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Liberation Sans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492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Paid CAC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3566160"/>
          <a:ext cx="10908792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07 — COMPETITIVE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Context memory is the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NEXORA is the only platform that maintains persistent cross-tool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80" y="21539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75A6B"/>
                </a:solidFill>
                <a:latin typeface="Liberation Sans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1160" y="2153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NEXORA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5640" y="2153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75A6B"/>
                </a:solidFill>
                <a:latin typeface="Liberation Sans"/>
              </a:rPr>
              <a:t>Competitor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0120" y="2153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75A6B"/>
                </a:solidFill>
                <a:latin typeface="Liberation Sans"/>
              </a:rPr>
              <a:t>Competitor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600" y="2153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75A6B"/>
                </a:solidFill>
                <a:latin typeface="Liberation Sans"/>
              </a:rPr>
              <a:t>Competitor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07920"/>
            <a:ext cx="10972800" cy="12700"/>
          </a:xfrm>
          <a:prstGeom prst="rect">
            <a:avLst/>
          </a:prstGeom>
          <a:solidFill>
            <a:srgbClr val="1E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33320"/>
            <a:ext cx="10972800" cy="330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80" y="24841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Persistent cross-tool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1160" y="2484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5640" y="2484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0120" y="2484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4600" y="2484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80" y="28143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No-code workflow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1160" y="2814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5640" y="2814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0120" y="2814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Liberation Sans"/>
              </a:rPr>
              <a:t>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2814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093720"/>
            <a:ext cx="10972800" cy="330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280" y="31445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AI copilot with workspace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1160" y="31445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5640" y="31445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0120" y="31445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4600" y="31445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Liberation Sans"/>
              </a:rPr>
              <a:t>~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280" y="34747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Privacy-first (no training opt-in)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1160" y="34747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5640" y="34747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0120" y="34747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Liberation Sans"/>
              </a:rPr>
              <a:t>~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34747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754120"/>
            <a:ext cx="10972800" cy="330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" y="38049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Productivity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71160" y="3804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5640" y="3804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Liberation Sans"/>
              </a:rPr>
              <a:t>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0120" y="3804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600" y="38049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" y="41351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PLG onboarding (no sales required)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1160" y="4135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5640" y="4135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0120" y="4135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600" y="41351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414520"/>
            <a:ext cx="10972800" cy="3302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280" y="4465320"/>
            <a:ext cx="4653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On-prem / private cloud option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1160" y="4465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C8B0"/>
                </a:solidFill>
                <a:latin typeface="Liberation Sans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5640" y="4465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80120" y="4465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  <a:latin typeface="Liberation Sans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34600" y="4465320"/>
            <a:ext cx="14528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  <a:latin typeface="Liberation San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08 — MARKET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Three ICP segments,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NEXORA's modular architecture addresses all three with the same core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91840"/>
          </a:xfrm>
          <a:prstGeom prst="roundRect">
            <a:avLst/>
          </a:prstGeom>
          <a:solidFill>
            <a:srgbClr val="081818"/>
          </a:solidFill>
          <a:ln w="9525">
            <a:solidFill>
              <a:srgbClr val="206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880" y="2255520"/>
            <a:ext cx="311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8B0"/>
                </a:solidFill>
                <a:latin typeface="Liberation Sans"/>
              </a:rPr>
              <a:t>🏦 Financial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880" y="2611120"/>
            <a:ext cx="311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Compliance reporting, client communication workflows, research synthesis. High automation ROI; strong security requirements met by on-prem 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880" y="4389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ACV target: $2,400 – $8,000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2103120"/>
            <a:ext cx="3474720" cy="3291840"/>
          </a:xfrm>
          <a:prstGeom prst="roundRect">
            <a:avLst/>
          </a:prstGeom>
          <a:solidFill>
            <a:srgbClr val="100E2A"/>
          </a:solidFill>
          <a:ln w="9525">
            <a:solidFill>
              <a:srgbClr val="4A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8048" y="2255520"/>
            <a:ext cx="311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7FFF"/>
                </a:solidFill>
                <a:latin typeface="Liberation Sans"/>
              </a:rPr>
              <a:t>⚖ Professional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048" y="2611120"/>
            <a:ext cx="311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Agencies, consultancies, and law firms handling client deliverables across dozens of concurrent projects. NexAssist dramatically reduces context-switching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048" y="4389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ACV target: $1,200 – $4,800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2103120"/>
            <a:ext cx="3474720" cy="329184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8216" y="2255520"/>
            <a:ext cx="3119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Liberation Sans"/>
              </a:rPr>
              <a:t>💻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8216" y="2611120"/>
            <a:ext cx="311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Product teams and engineering leads running data-heavy workflows across Jira, Notion, Slack, and analytics tools. AutoFlow is the entry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8216" y="4389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ACV target: $2,400 – $24,000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09 — 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PLG first. Enterprise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A three-phase motion designed to reach $52M ARR by Year 4 without a large sales org.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91840"/>
          </a:xfrm>
          <a:prstGeom prst="roundRect">
            <a:avLst/>
          </a:prstGeom>
          <a:solidFill>
            <a:srgbClr val="081818"/>
          </a:solidFill>
          <a:ln w="9525">
            <a:solidFill>
              <a:srgbClr val="206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7880" y="2255520"/>
            <a:ext cx="381000" cy="381000"/>
          </a:xfrm>
          <a:prstGeom prst="ellipse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480" y="2319020"/>
            <a:ext cx="2636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8B0"/>
                </a:solidFill>
                <a:latin typeface="Liberation Sans"/>
              </a:rPr>
              <a:t>Product-Led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880" y="2763520"/>
            <a:ext cx="311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Freemium tier drives viral adoption. Referral loops built into sharing AutoFlow workflows and NexAssist templates.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880" y="4135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EC8B0"/>
                </a:solidFill>
                <a:latin typeface="Liberation Sans"/>
              </a:rPr>
              <a:t>Target: 50K MAU in 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80" y="43891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Months 0–12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103120"/>
            <a:ext cx="3474720" cy="3291840"/>
          </a:xfrm>
          <a:prstGeom prst="roundRect">
            <a:avLst/>
          </a:prstGeom>
          <a:solidFill>
            <a:srgbClr val="100E2A"/>
          </a:solidFill>
          <a:ln w="9525">
            <a:solidFill>
              <a:srgbClr val="4A4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48048" y="2255520"/>
            <a:ext cx="381000" cy="381000"/>
          </a:xfrm>
          <a:prstGeom prst="ellipse">
            <a:avLst/>
          </a:prstGeom>
          <a:solidFill>
            <a:srgbClr val="8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0648" y="2319020"/>
            <a:ext cx="2636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7FFF"/>
                </a:solidFill>
                <a:latin typeface="Liberation Sans"/>
              </a:rPr>
              <a:t>SMB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8048" y="2763520"/>
            <a:ext cx="311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Self-serve Team plan. In-product nudges convert top individual users to team accounts. Content marketing + community flywheel.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8048" y="4135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7FFF"/>
                </a:solidFill>
                <a:latin typeface="Liberation Sans"/>
              </a:rPr>
              <a:t>Target: 500 paying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048" y="43891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Months 6–18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416" y="2103120"/>
            <a:ext cx="3474720" cy="329184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78216" y="2255520"/>
            <a:ext cx="381000" cy="381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0816" y="2319020"/>
            <a:ext cx="2636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Liberation Sans"/>
              </a:rPr>
              <a:t>Enterprise 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8216" y="2763520"/>
            <a:ext cx="311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Dedicated AE team targets F500 accounts via champions identified in PLG data. On-prem deployment unlocks regulated industries.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8216" y="4135120"/>
            <a:ext cx="31191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Liberation Sans"/>
              </a:rPr>
              <a:t>Target: 20 enterprise logos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8216" y="4389120"/>
            <a:ext cx="311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75A6B"/>
                </a:solidFill>
                <a:latin typeface="Liberation Sans"/>
              </a:rPr>
              <a:t>Months 12–30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all data is fictional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10 —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Built by operators who've scaled this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Founding team combines enterprise SaaS, AI research, and PLG growth expertise.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560320" cy="34747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0840" y="2255520"/>
            <a:ext cx="558800" cy="558800"/>
          </a:xfrm>
          <a:prstGeom prst="ellipse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080" y="2890520"/>
            <a:ext cx="230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EEF8"/>
                </a:solidFill>
                <a:latin typeface="Liberation Sans"/>
              </a:rPr>
              <a:t>Alex Morgan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080" y="3195320"/>
            <a:ext cx="230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EC8B0"/>
                </a:solidFill>
                <a:latin typeface="Liberation Sans"/>
              </a:rPr>
              <a:t>CEO &amp; Co-founder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080" y="3500120"/>
            <a:ext cx="230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0B4"/>
                </a:solidFill>
                <a:latin typeface="Liberation Sans"/>
              </a:rPr>
              <a:t>Former VP Product at enterprise SaaS (2K→40K seats). Led $30M Series 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560320" cy="34747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38320" y="2255520"/>
            <a:ext cx="558800" cy="558800"/>
          </a:xfrm>
          <a:prstGeom prst="ellipse">
            <a:avLst/>
          </a:prstGeom>
          <a:solidFill>
            <a:srgbClr val="8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4560" y="2890520"/>
            <a:ext cx="230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EEF8"/>
                </a:solidFill>
                <a:latin typeface="Liberation Sans"/>
              </a:rPr>
              <a:t>Sarah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4560" y="3195320"/>
            <a:ext cx="230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7FFF"/>
                </a:solidFill>
                <a:latin typeface="Liberation Sans"/>
              </a:rPr>
              <a:t>CTO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4560" y="3500120"/>
            <a:ext cx="230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0B4"/>
                </a:solidFill>
                <a:latin typeface="Liberation Sans"/>
              </a:rPr>
              <a:t>ML research background. 6 years building NLP systems at a top-10 AI lab. 14 published papers.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03120"/>
            <a:ext cx="2560320" cy="34747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35800" y="2255520"/>
            <a:ext cx="558800" cy="558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2040" y="2890520"/>
            <a:ext cx="230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EEF8"/>
                </a:solidFill>
                <a:latin typeface="Liberation Sans"/>
              </a:rPr>
              <a:t>Marcus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2040" y="3195320"/>
            <a:ext cx="230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  <a:latin typeface="Liberation Sans"/>
              </a:rPr>
              <a:t>CPO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2040" y="3500120"/>
            <a:ext cx="230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0B4"/>
                </a:solidFill>
                <a:latin typeface="Liberation Sans"/>
              </a:rPr>
              <a:t>0→1 product lead at two PLG companies (combined $80M ARR). Obsesses over onboarding.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103120"/>
            <a:ext cx="2560320" cy="34747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33280" y="2255520"/>
            <a:ext cx="558800" cy="5588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8091A"/>
                </a:solidFill>
                <a:latin typeface="Liberation Sans"/>
              </a:rPr>
              <a:t>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9520" y="2890520"/>
            <a:ext cx="230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CEEF8"/>
                </a:solidFill>
                <a:latin typeface="Liberation Sans"/>
              </a:rPr>
              <a:t>Priya Patel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9520" y="3195320"/>
            <a:ext cx="230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Liberation Sans"/>
              </a:rPr>
              <a:t>Head of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9520" y="3500120"/>
            <a:ext cx="230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0B4"/>
                </a:solidFill>
                <a:latin typeface="Liberation Sans"/>
              </a:rPr>
              <a:t>Closed $12M+ in enterprise SaaS. Built outbound motion from scratch at two startups.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109087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All names and backgrounds are fictional — illustrative concept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C8B0"/>
                </a:solidFill>
                <a:latin typeface="Liberation Sans"/>
              </a:rPr>
              <a:t>11 — 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365760" cy="381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CEEF8"/>
                </a:solidFill>
                <a:latin typeface="Liberation Sans"/>
              </a:rPr>
              <a:t>$52M ARR by Year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0B4"/>
                </a:solidFill>
                <a:latin typeface="Liberation Sans"/>
              </a:rPr>
              <a:t>Breakeven at 18 months. 3.2× net revenue retention drives efficient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8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EC8B0"/>
                </a:solidFill>
                <a:latin typeface="Liberation Sans"/>
              </a:rPr>
              <a:t>$8M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Series A raise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996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7FFF"/>
                </a:solidFill>
                <a:latin typeface="Liberation Sans"/>
              </a:rPr>
              <a:t>18mo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996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Runway to breakeven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Liberation Sans"/>
              </a:rPr>
              <a:t>3.2×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44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Net revenue retention (Y2)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03120"/>
            <a:ext cx="2560320" cy="1280160"/>
          </a:xfrm>
          <a:prstGeom prst="roundRect">
            <a:avLst/>
          </a:prstGeom>
          <a:solidFill>
            <a:srgbClr val="0D1428"/>
          </a:solidFill>
          <a:ln w="6350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4920" y="2230120"/>
            <a:ext cx="225552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Liberation Sans"/>
              </a:rPr>
              <a:t>Y2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4920" y="2738120"/>
            <a:ext cx="225552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0B4"/>
                </a:solidFill>
                <a:latin typeface="Liberation Sans"/>
              </a:rPr>
              <a:t>Projected breakeven year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3566160"/>
          <a:ext cx="10908792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578600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75A6B"/>
                </a:solidFill>
                <a:latin typeface="Liberation Sans"/>
              </a:rPr>
              <a:t>Illustrative / Concept Project — not a financial forecast or investment prospectus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8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0" y="731520"/>
            <a:ext cx="822960" cy="822960"/>
          </a:xfrm>
          <a:prstGeom prst="round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8091A"/>
                </a:solidFill>
                <a:latin typeface="Liberation Sans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94457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EC8B0"/>
                </a:solidFill>
                <a:latin typeface="Liberation Serif"/>
              </a:rPr>
              <a:t>Join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0B4"/>
                </a:solidFill>
                <a:latin typeface="Liberation Sans"/>
              </a:rPr>
              <a:t>We're raising an $8M Series A to build the productivity layer that knowledge work has always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611880"/>
            <a:ext cx="5788152" cy="2103120"/>
          </a:xfrm>
          <a:prstGeom prst="roundRect">
            <a:avLst/>
          </a:prstGeom>
          <a:solidFill>
            <a:srgbClr val="0D1428"/>
          </a:solidFill>
          <a:ln w="9525">
            <a:solidFill>
              <a:srgbClr val="1E2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703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75A6B"/>
                </a:solidFill>
                <a:latin typeface="Liberation Sans"/>
              </a:rPr>
              <a:t>USE OF FUNDS — $8M SERIES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931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Engineering &amp;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931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EC8B0"/>
                </a:solidFill>
                <a:latin typeface="Liberation Sans"/>
              </a:rPr>
              <a:t>$4.0M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160520"/>
            <a:ext cx="5486400" cy="635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160520"/>
            <a:ext cx="2743200" cy="63500"/>
          </a:xfrm>
          <a:prstGeom prst="rect">
            <a:avLst/>
          </a:prstGeom>
          <a:solidFill>
            <a:srgbClr val="3E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338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Sales &amp;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338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B7FFF"/>
                </a:solidFill>
                <a:latin typeface="Liberation Sans"/>
              </a:rPr>
              <a:t>$2.8M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4566920"/>
            <a:ext cx="5486400" cy="635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566920"/>
            <a:ext cx="1920239" cy="63500"/>
          </a:xfrm>
          <a:prstGeom prst="rect">
            <a:avLst/>
          </a:prstGeom>
          <a:solidFill>
            <a:srgbClr val="8B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74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CEEF8"/>
                </a:solidFill>
                <a:latin typeface="Liberation Sans"/>
              </a:rPr>
              <a:t>G&amp;A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744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  <a:latin typeface="Liberation Sans"/>
              </a:rPr>
              <a:t>$1.2M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973320"/>
            <a:ext cx="5486400" cy="63500"/>
          </a:xfrm>
          <a:prstGeom prst="rect">
            <a:avLst/>
          </a:prstGeom>
          <a:solidFill>
            <a:srgbClr val="15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4973320"/>
            <a:ext cx="822959" cy="6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0" y="5943600"/>
            <a:ext cx="3959352" cy="330200"/>
          </a:xfrm>
          <a:prstGeom prst="roundRect">
            <a:avLst/>
          </a:prstGeom>
          <a:solidFill>
            <a:srgbClr val="3A2D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59E0B"/>
                </a:solidFill>
                <a:latin typeface="Liberation Sans"/>
              </a:rPr>
              <a:t>⚠  ILLUSTRATIVE / CONCEPT PROJECT — NOT A REAL INVESTMENT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